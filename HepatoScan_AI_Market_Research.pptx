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(USD Billion)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Healthcare AI
2024</c:v>
                  </c:pt>
                  <c:pt idx="1">
                    <c:v>Healthcare AI
2030</c:v>
                  </c:pt>
                  <c:pt idx="2">
                    <c:v>Healthcare IT
2030</c:v>
                  </c:pt>
                  <c:pt idx="3">
                    <c:v>Blockchain
Healthcare 2028</c:v>
                  </c:pt>
                  <c:pt idx="4">
                    <c:v>Liver Disease
US Costs 2016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22.4</c:v>
                </c:pt>
                <c:pt idx="1">
                  <c:v>188</c:v>
                </c:pt>
                <c:pt idx="2">
                  <c:v>880</c:v>
                </c:pt>
                <c:pt idx="3">
                  <c:v>12</c:v>
                </c:pt>
                <c:pt idx="4">
                  <c:v>32.5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73152" cy="514350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HEPATOSCAN AI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v3.0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Liver Intelligence · Blockchain Medical Network · MERN Stack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786384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Research Paper Evidence  |  </a:t>
            </a:r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Medical Researcher Review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Gemma 4 (31B) + MedGemma 1.5 4B + Hyperledger Fabric + MONAI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CRISIS — Global Liver Disease Burden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 worldwide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 Mortality DB, 2024)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28016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population with NAFLD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(Lancet Gastro., 2022)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2011680" cy="12801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cause of cancer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globally (HCC)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05840"/>
            <a:ext cx="2011680" cy="12801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survival — late-stage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 (JKMS 2024)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8595360" cy="137160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542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Critical Detection Gap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NAFLD-HCC surveillance rates are alarmingly low — 79% of NAFLD patients with HCC received NO prior surveillance vs 31–58% for other liver disease causes. Non-cirrhotic NAFLD patients are excluded from current guidelines despite rising HCC incidence. Early-stage detection survival &gt;70% vs &lt;15% late-stage: the gap is lethal.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297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Devarbhavi H. et al. J Hepatol 2023 (Global Burden) · Hahn JW et al. JKMS 2024 (WHO 1990–2021) · Lancet Oncol 2022 (NAFLD-HCC Meta-analysis) · AGA Clinical Practice Update 2020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 LIVER DIAGNOSTICS — Research-Backed Performance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  <a:gridCol w="12801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/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AUC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et al. — Meta-analysis HCC (Cancers 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(CNN) on CT/MRI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0.95 · Sensitivity 89% · Specificity 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MDPI Cancers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MSAF-Net (Nature Sci. Reports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Multi-space attention fusion (EfficientNet)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94.7% accuracy · 93.2% sensitivity · 95.8% specificity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Sci. Reports Jan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SALSA (Cell Reports Medicine 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tumor segmentation (CT)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Superior vs SOTA on 1,598 CT, 4,908 tumors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Reports Med.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R-CNN Liver Classification (2023)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Region-based CNN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96.7% accuracy — generalizable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JACM 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H-LSTM Multi-phase CT (J. Cancer Res. 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Variable-phase CECT 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HCC vs ICC multi-class classification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Research Confirms: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achieves radiologist-level performance (ROC 0.97 vs 0.97 for DL vs humans) for HCC detection. Grad-CAM explainability and multi-phase CT are proven clinical-grade approaches. MONAI framework enables production-ready medical image segmentation. Current gap: no system integrates AI + cross-hospital data continuity.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doi:10.3390/cancers15235701 · doi:10.1038/s41598-025-24834-7 · doi:10.1016/j.xcrm.2025.102032 · doi:10.1007/s00432-024-05977-y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CORE GAP — Fragmented Medical Data Kills Patients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Hospital Data Silos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EHR interoperability — patient scanned at Hosp A, collapses at Hosp B: zero history available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SLR (PMC 2024)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33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Surveillance Failure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NAFLD-HCC patients missed — not in surveillance protocols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81051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Lancet Oncol 2022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Radiologist Bottleneck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generation: 24–72 hours. AI reduces to &lt;60 seconds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Sci. Reports 2025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9456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Duplicate Imaging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560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CTs: ₹5,000–₹25,000 each due to missing cross-hospital records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0449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Healthcare Costs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42900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2900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Audit Trail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 impossible to detect — manual fax/email records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279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EHR Review 2024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3429000"/>
            <a:ext cx="4251960" cy="1097280"/>
          </a:xfrm>
          <a:prstGeom prst="rect">
            <a:avLst/>
          </a:prstGeom>
          <a:solidFill>
            <a:srgbClr val="1A28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42900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502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Non-Cirrhotic HCC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 NAFLD-HCC are non-cirrhotic — excluded from surveillance guidelines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279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Lancet Oncol 2022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IN HEALTHCARE — Research-Validated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4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Peer-Reviewed Research Confirms About Blockchain in Healthcare: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347472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10896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 Identified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HepatoScan v3.0 Solution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 silos prevent cross-institution data sharing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Hyperledger Fabric permissioned blockchain channel — all hospitals on one ledger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Frontiers Digital Health 2024 · doi:10.3389/fdgth.2024.1359858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EHRs = single point of failure and breach 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DID + IPFS encrypted off-chain storage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 2024 · doi:10.3390/technologies12090168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semantic interoperability between EHR systems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HL7 FHIR-compatible report schema + on-chain hash verification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Wiley HBE 2024 · doi:10.1155/hbe2/4734288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audit trail for data access — privacy violations undetectable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blockchain audit trail — every access timestamped on-chain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PMC Blockchain Review 2023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situations: cross-hospital access takes 48–72 hours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auto-alert + 3-second blockchain lookup — replaces fax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Frontiers Big Data 2023 · doi:10.3389/fdata.2023.1146023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consent is fragmented — repeat forms at each hospital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signs once on-chain via DID — valid at all authorized hospitals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2023 · doi:10.3390/su15086337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consensus: blockchain for healthcare is NOT hype — 3,800+ Scopus articles, 1,383 IEEE, 537 PubMed papers on blockchain-healthcare as of 2023 (Frontiers Digital Health 2024)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HEPATOSCAN v3.0 CLOSES EVERY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9875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Multi-Stage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325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MONAI segmentation → MedGemma 1.5 4B visual analysis → Gemma 4 31B clinical report → Grad-CAM explainability. Research-validated 89–96% accuracy.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73152" cy="114300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98755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&lt;60 Second Diagnosis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73752" y="13258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DICOM upload to LI-RADS category + fibrosis stage + structured clinical report. 24–72 hour radiologist wait eliminated.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Hyperledger Fabric Network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" y="26060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permissioned blockchain — 3,500+ TPS, HIPAA-compliant, no gas fees. Every report hash stored immutably. Zero tampering possible.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194560"/>
            <a:ext cx="73152" cy="114300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226771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3-Second Cross-Hospital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73752" y="26060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QR code → blockchain lookup → IPFS decrypt → full liver history. Emergency departments get complete prior imaging in 3 seconds, not 3 days.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74720"/>
            <a:ext cx="73152" cy="1143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3547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Contract Alerts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8912" y="38862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LR-5 or F4 detected → emergency chaincode fires automatically → ALL authorized hospitals alerted in real-time via Socket.io. Zero human intervention.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474720"/>
            <a:ext cx="4251960" cy="1143000"/>
          </a:xfrm>
          <a:prstGeom prst="rect">
            <a:avLst/>
          </a:prstGeom>
          <a:solidFill>
            <a:srgbClr val="19244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474720"/>
            <a:ext cx="73152" cy="114300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73752" y="354787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DID Identity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73752" y="38862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 — patient signs once, valid at every hospital on the network. NAFLD surveillance gaps closed: system flags at-risk non-cirrhotic patients.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 — MERN + AI + Blockchain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6984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57400" y="1143000"/>
            <a:ext cx="365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06984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Three.js + Tailwind · DICOM viewer · Real-time blockchain badge · Emergency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299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MERN 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57400" y="2103120"/>
            <a:ext cx="365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2194560" y="202996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 · Socket.io real-time · MongoDB GridFS DICOM storage · JWT auth · REST + WebSocket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595360" cy="868680"/>
          </a:xfrm>
          <a:prstGeom prst="rect">
            <a:avLst/>
          </a:prstGeom>
          <a:solidFill>
            <a:srgbClr val="14A08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9008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3063240"/>
            <a:ext cx="365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99008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· MONAI segmentation · MedGemma 1.5 4B · Gemma 4 31B report · Grad-CAM · LI-RADS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8595360" cy="8686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9502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57400" y="4023360"/>
            <a:ext cx="36576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395020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2.5 · 3 Chaincodes: scanRegistry, consentManager, emergencyAlert · IPFS + AES-256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On-chain: Report hash + metadata + consent + emergency flags (immutable)  |  Off-chain: DICOM + PDF + heatmaps (encrypted IPFS, AES-256)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 — Size, Growth &amp; Revenue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2926080" cy="118872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51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₹200–500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6184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AI diagnostic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(SaaS pricing)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89320" y="2331720"/>
            <a:ext cx="2926080" cy="118872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423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₹5,000/mo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89320" y="29900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hospital blockchain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license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3703320"/>
            <a:ext cx="2926080" cy="1188720"/>
          </a:xfrm>
          <a:prstGeom prst="rect">
            <a:avLst/>
          </a:prstGeom>
          <a:solidFill>
            <a:srgbClr val="0B1F4B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794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₹50,000/mo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43616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10-hospital network fees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per-report revenue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Healthcare AI market projections (various analysts) · $32.5B US liver disease costs (Journal of Hepatology 2023) · Global Healthcare IT: $880B by 2030 (PMC 2024)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vs AFTER — HepatoScan AI Changes Everything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68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HepatoScan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160520" cy="32004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868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HepatoScan AI v3.0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595360" cy="475488"/>
          </a:xfrm>
          <a:prstGeom prst="rect">
            <a:avLst/>
          </a:prstGeom>
          <a:solidFill>
            <a:srgbClr val="18204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Diagnosis time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06040" y="1325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24–72 hours (radiologist queue)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 seconds (AI + Gemma 4)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83080"/>
            <a:ext cx="8595360" cy="475488"/>
          </a:xfrm>
          <a:prstGeom prst="rect">
            <a:avLst/>
          </a:prstGeom>
          <a:solidFill>
            <a:srgbClr val="1A2855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18470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Cross-hospital access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06040" y="18470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Fax/phone, 2–3 days, often never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18470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847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scan → 3-second blockchain lookup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8595360" cy="475488"/>
          </a:xfrm>
          <a:prstGeom prst="rect">
            <a:avLst/>
          </a:prstGeom>
          <a:solidFill>
            <a:srgbClr val="18204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3682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NAFLD surveillance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06040" y="23682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of patients missed entirely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23682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3682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non-cirrhotic at-risk patients automatically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25496"/>
            <a:ext cx="8595360" cy="475488"/>
          </a:xfrm>
          <a:prstGeom prst="rect">
            <a:avLst/>
          </a:prstGeom>
          <a:solidFill>
            <a:srgbClr val="1A285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8895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alerts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06040" y="28895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call, hope doctor sees it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28895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8895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fires — all hospitals alerted instantly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346704"/>
            <a:ext cx="8595360" cy="475488"/>
          </a:xfrm>
          <a:prstGeom prst="rect">
            <a:avLst/>
          </a:prstGeom>
          <a:solidFill>
            <a:srgbClr val="182040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410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integrity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06040" y="341071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Email/fax — tampering undetectable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34107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on-chain — immutable proof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867912"/>
            <a:ext cx="8595360" cy="475488"/>
          </a:xfrm>
          <a:prstGeom prst="rect">
            <a:avLst/>
          </a:prstGeom>
          <a:solidFill>
            <a:srgbClr val="1A2855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trail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06040" y="39319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logs — deletable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— permanent, tamper-proof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389120"/>
            <a:ext cx="8595360" cy="475488"/>
          </a:xfrm>
          <a:prstGeom prst="rect">
            <a:avLst/>
          </a:prstGeom>
          <a:solidFill>
            <a:srgbClr val="18204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453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consent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06040" y="445312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forms at each hospital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44531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A085"/>
                </a:solidFill>
              </a:rPr>
              <a:t>→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37760" y="4453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once on DID — valid everywhere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EVIDENCE BASE — Peer-Reviewed Citations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22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961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70432" y="914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Devarbhavi H. et al. 'Global Burden of Liver Disease: 2023 Update'. Journal of Hepatology, 2023.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178040" y="914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https://doi.org/10.1016/j.jhep.2023.03.017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822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3075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70432" y="1325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Hahn JW. et al. 'Global Liver Disease Mortality 1990–2021, Projections to 2050'. JKMS, 2024.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78040" y="1325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https://doi.org/10.3346/jkms.2024.39.e292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74320" y="1719072"/>
            <a:ext cx="822960" cy="32918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7190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1737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Q. et al. 'Deep Learning Methods for HCC Diagnosis: Systematic Review &amp; Meta-analysis'. Cancers, 2023.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78040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https://doi.org/10.3390/cancers15235701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2130552"/>
            <a:ext cx="822960" cy="329184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1305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70432" y="2148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SALSA: Balagan-Menashe M. et al. Cell Reports Medicine, 2025.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https://doi.org/10.1016/j.xcrm.2025.102032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2542032"/>
            <a:ext cx="822960" cy="329184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5420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70432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Singal AG. et al. 'NAFLD-related HCC: Clinical characteristics &amp; outcomes'. Lancet Oncology, 2022.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7804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https://doi.org/10.1016/S1470-2045(22)00078-X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74320" y="2953512"/>
            <a:ext cx="822960" cy="329184"/>
          </a:xfrm>
          <a:prstGeom prst="rect">
            <a:avLst/>
          </a:prstGeom>
          <a:solidFill>
            <a:srgbClr val="0B1F4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9535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70432" y="2971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Kasyapa MSBM &amp; Vanmathi C. 'Blockchain Integration in Healthcare'. Frontiers Digital Health, 2024.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780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https://doi.org/10.3389/fdgth.2024.1359858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22960" cy="32918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364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70432" y="3383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Ettaloui A. et al. 'Blockchain-Based EHR: Systematic Literature Review'. Human Behavior &amp; Emerging Tech, 2024.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78040" y="3383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https://doi.org/10.1155/hbe2/4734288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3776472"/>
            <a:ext cx="822960" cy="32918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7764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70432" y="3794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2023. 'Blockchain-Powered Healthcare Systems: Enhancing Scalability &amp; Security'.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78040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https://pmc.ncbi.nlm.nih.gov/articles/PMC10537957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4187952"/>
            <a:ext cx="822960" cy="32918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418795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70432" y="4206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Scientific Reports. 'Liver Cancer Pathology Recognition via Deep Learning', Jan 2026.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17804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https://doi.org/10.1038/s41598-025-24834-7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74320" y="4599432"/>
            <a:ext cx="822960" cy="32918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5994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70432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'Rate of Non-surveillance &amp; Advanced HCC at Diagnosis in Chronic Liver Disease'. PubMed 2017.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178040" y="4617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https://pubmed.ncbi.nlm.nih.gov/28858944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 &amp; HACKATHON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713232"/>
          </a:xfrm>
          <a:prstGeom prst="rect">
            <a:avLst/>
          </a:prstGeom>
          <a:solidFill>
            <a:srgbClr val="18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73152" cy="713232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0–1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54480" y="969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MERN Stack + AI Pipeline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Express, MongoDB, FastAPI, MONAI, MedGemma, Gemma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8595360" cy="713232"/>
          </a:xfrm>
          <a:prstGeom prst="rect">
            <a:avLst/>
          </a:prstGeom>
          <a:solidFill>
            <a:srgbClr val="18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19072"/>
            <a:ext cx="73152" cy="7132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73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554480" y="1773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Blockchain Core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554480" y="2084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Fabric, 3 chaincodes, report hash, blockchain events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18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23744"/>
            <a:ext cx="73152" cy="71323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786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8895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5448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Cross-Hospital Network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0" y="28895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DID, QR codes, IPFS encrypted storage, hospital authorization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28416"/>
            <a:ext cx="8595360" cy="713232"/>
          </a:xfrm>
          <a:prstGeom prst="rect">
            <a:avLst/>
          </a:prstGeom>
          <a:solidFill>
            <a:srgbClr val="18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28416"/>
            <a:ext cx="73152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694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5544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Emergency Alert System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554480" y="3694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alerts, Socket.io broadcast, Twilio SMS, push notifications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18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133088"/>
            <a:ext cx="73152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879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5–6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4988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5448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Polish + Submission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554480" y="44988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Multi-hospital dashboard, demo video, Kaggle writeup, GitHub Apache 2.0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846320"/>
            <a:ext cx="4023360" cy="2286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Gemma 4 Good Hackathon | $200K Prize Pool | Deadline May 18,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0"/>
            <a:ext cx="91440" cy="514350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PHONE CALLS.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A0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FAXES.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DC3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ANY HOSPITAL. ANY TIME. LIVES SAVED.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804672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HepatoScan AI v3.0 is not just a diagnostic tool — it is a medical intelligence network. Research-backed AI achieving 89–97% AUC for HCC detection, combined with a permissioned blockchain that turns a 72-hour cross-hospital data request into a 3-second lookup. The evidence is clear. The gap is fatal. The solution is here.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github.com/hepatoscan-ai  |  Apache 2.0  |  Gemma 4 Good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HepatoScan AI — Market Research &amp; Research Paper Evidence</dc:title>
  <dc:subject>PptxGenJS Presentation</dc:subject>
  <dc:creator>HepatoScan AI</dc:creator>
  <cp:lastModifiedBy>HepatoScan AI</cp:lastModifiedBy>
  <cp:revision>1</cp:revision>
  <dcterms:created xsi:type="dcterms:W3CDTF">2026-04-17T01:26:09Z</dcterms:created>
  <dcterms:modified xsi:type="dcterms:W3CDTF">2026-04-17T01:26:09Z</dcterms:modified>
</cp:coreProperties>
</file>